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One-page overview for hackathon judges. Walk left to right: problem, solution, four-step process, then the three proof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01726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16191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GitGrounded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12800" y="1371600"/>
            <a:ext cx="60172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545B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if your AI got better or worse, before your customers do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585200" y="812800"/>
            <a:ext cx="2794000" cy="706041"/>
          </a:xfrm>
          <a:prstGeom prst="roundRect">
            <a:avLst>
              <a:gd name="adj" fmla="val 14390"/>
            </a:avLst>
          </a:prstGeom>
          <a:solidFill>
            <a:srgbClr val="E6F4F1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0" y="939800"/>
            <a:ext cx="25115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Builders Pitch Fest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63000" y="1178520"/>
            <a:ext cx="25115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6E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Automation AI Track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5975" y="1695946"/>
            <a:ext cx="4895850" cy="1255117"/>
          </a:xfrm>
          <a:prstGeom prst="roundRect">
            <a:avLst>
              <a:gd name="adj" fmla="val 9866"/>
            </a:avLst>
          </a:prstGeom>
          <a:solidFill>
            <a:srgbClr val="FFFFFF"/>
          </a:solidFill>
          <a:ln w="6350">
            <a:solidFill>
              <a:srgbClr val="E2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350" y="1902321"/>
            <a:ext cx="461759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b="1" dirty="0">
                <a:solidFill>
                  <a:srgbClr val="9A33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019" dirty="0"/>
          </a:p>
        </p:txBody>
      </p:sp>
      <p:sp>
        <p:nvSpPr>
          <p:cNvPr id="9" name="Text 7"/>
          <p:cNvSpPr/>
          <p:nvPr/>
        </p:nvSpPr>
        <p:spPr>
          <a:xfrm>
            <a:off x="1022350" y="2131715"/>
            <a:ext cx="461759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6"/>
              </a:lnSpc>
              <a:buNone/>
            </a:pPr>
            <a:r>
              <a:rPr lang="en-US" sz="1148" dirty="0">
                <a:solidFill>
                  <a:srgbClr val="3A3F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change your AI's instructions, or swap which model answers </a:t>
            </a:r>
            <a:endParaRPr lang="en-US" sz="1148" dirty="0"/>
          </a:p>
          <a:p>
            <a:pPr algn="l" indent="0" marL="0">
              <a:lnSpc>
                <a:spcPts val="1606"/>
              </a:lnSpc>
              <a:buNone/>
            </a:pPr>
            <a:r>
              <a:rPr lang="en-US" sz="1148" dirty="0">
                <a:solidFill>
                  <a:srgbClr val="3A3F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it get better, or worse? </a:t>
            </a:r>
            <a:endParaRPr lang="en-US" sz="1148" dirty="0"/>
          </a:p>
          <a:p>
            <a:pPr algn="l" indent="0" marL="0">
              <a:lnSpc>
                <a:spcPts val="1606"/>
              </a:lnSpc>
              <a:buNone/>
            </a:pPr>
            <a:r>
              <a:rPr lang="en-US" sz="1148" dirty="0">
                <a:solidFill>
                  <a:srgbClr val="3A3F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Usually you find out from an angry customer</a:t>
            </a:r>
            <a:endParaRPr lang="en-US" sz="1148" dirty="0"/>
          </a:p>
        </p:txBody>
      </p:sp>
      <p:sp>
        <p:nvSpPr>
          <p:cNvPr id="10" name="Text 8"/>
          <p:cNvSpPr/>
          <p:nvPr/>
        </p:nvSpPr>
        <p:spPr>
          <a:xfrm>
            <a:off x="5962650" y="2127945"/>
            <a:ext cx="31740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8A8F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80175" y="1695946"/>
            <a:ext cx="4895850" cy="1255117"/>
          </a:xfrm>
          <a:prstGeom prst="roundRect">
            <a:avLst>
              <a:gd name="adj" fmla="val 9866"/>
            </a:avLst>
          </a:prstGeom>
          <a:solidFill>
            <a:srgbClr val="FFFFFF"/>
          </a:solidFill>
          <a:ln w="6350">
            <a:solidFill>
              <a:srgbClr val="E2DE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86550" y="1902321"/>
            <a:ext cx="46175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86550" y="2191841"/>
            <a:ext cx="461759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3F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GitGrounded checks automatically, every time you make a change, before anyone else sees 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975" y="3186013"/>
            <a:ext cx="2540000" cy="1127919"/>
          </a:xfrm>
          <a:prstGeom prst="roundRect">
            <a:avLst>
              <a:gd name="adj" fmla="val 10978"/>
            </a:avLst>
          </a:prstGeom>
          <a:solidFill>
            <a:srgbClr val="FFFFFF"/>
          </a:solidFill>
          <a:ln w="6350">
            <a:solidFill>
              <a:srgbClr val="E2DE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6950" y="3366988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6191D"/>
          </a:solidFill>
          <a:ln/>
        </p:spPr>
      </p:sp>
      <p:sp>
        <p:nvSpPr>
          <p:cNvPr id="16" name="Text 14"/>
          <p:cNvSpPr/>
          <p:nvPr/>
        </p:nvSpPr>
        <p:spPr>
          <a:xfrm>
            <a:off x="1126430" y="3416498"/>
            <a:ext cx="12203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96950" y="3760688"/>
            <a:ext cx="2243392" cy="122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b="1" dirty="0">
                <a:solidFill>
                  <a:srgbClr val="1619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996950" y="3921720"/>
            <a:ext cx="2243392" cy="236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859" dirty="0">
                <a:solidFill>
                  <a:srgbClr val="545B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the instructions, or swap the AI model</a:t>
            </a:r>
            <a:endParaRPr lang="en-US" sz="859" dirty="0"/>
          </a:p>
        </p:txBody>
      </p:sp>
      <p:sp>
        <p:nvSpPr>
          <p:cNvPr id="19" name="Shape 17"/>
          <p:cNvSpPr/>
          <p:nvPr/>
        </p:nvSpPr>
        <p:spPr>
          <a:xfrm>
            <a:off x="3489325" y="3186013"/>
            <a:ext cx="2540000" cy="1127919"/>
          </a:xfrm>
          <a:prstGeom prst="roundRect">
            <a:avLst>
              <a:gd name="adj" fmla="val 10978"/>
            </a:avLst>
          </a:prstGeom>
          <a:solidFill>
            <a:srgbClr val="FFFFFF"/>
          </a:solidFill>
          <a:ln w="6350">
            <a:solidFill>
              <a:srgbClr val="E2DE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70300" y="3366988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6191D"/>
          </a:solidFill>
          <a:ln/>
        </p:spPr>
      </p:sp>
      <p:sp>
        <p:nvSpPr>
          <p:cNvPr id="21" name="Text 19"/>
          <p:cNvSpPr/>
          <p:nvPr/>
        </p:nvSpPr>
        <p:spPr>
          <a:xfrm>
            <a:off x="3783310" y="3416498"/>
            <a:ext cx="1548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70300" y="3760688"/>
            <a:ext cx="2243392" cy="122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b="1" dirty="0">
                <a:solidFill>
                  <a:srgbClr val="1619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670300" y="3921720"/>
            <a:ext cx="2243392" cy="236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36"/>
              </a:lnSpc>
              <a:buNone/>
            </a:pPr>
            <a:r>
              <a:rPr lang="en-US" sz="720" dirty="0">
                <a:solidFill>
                  <a:srgbClr val="545B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Old and new versions answer the exact same questions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162675" y="3186013"/>
            <a:ext cx="2540000" cy="1127919"/>
          </a:xfrm>
          <a:prstGeom prst="roundRect">
            <a:avLst>
              <a:gd name="adj" fmla="val 10978"/>
            </a:avLst>
          </a:prstGeom>
          <a:solidFill>
            <a:srgbClr val="FFFFFF"/>
          </a:solidFill>
          <a:ln w="6350">
            <a:solidFill>
              <a:srgbClr val="E2DE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43650" y="3366988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6191D"/>
          </a:solidFill>
          <a:ln/>
        </p:spPr>
      </p:sp>
      <p:sp>
        <p:nvSpPr>
          <p:cNvPr id="26" name="Text 24"/>
          <p:cNvSpPr/>
          <p:nvPr/>
        </p:nvSpPr>
        <p:spPr>
          <a:xfrm>
            <a:off x="6455370" y="3416498"/>
            <a:ext cx="1574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43650" y="3760688"/>
            <a:ext cx="2243392" cy="122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b="1" dirty="0">
                <a:solidFill>
                  <a:srgbClr val="1619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Judge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6343650" y="3921720"/>
            <a:ext cx="2243392" cy="236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81" dirty="0">
                <a:solidFill>
                  <a:srgbClr val="545B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second AI grades both sets of answers</a:t>
            </a:r>
            <a:endParaRPr lang="en-US" sz="881" dirty="0"/>
          </a:p>
        </p:txBody>
      </p:sp>
      <p:sp>
        <p:nvSpPr>
          <p:cNvPr id="29" name="Shape 27"/>
          <p:cNvSpPr/>
          <p:nvPr/>
        </p:nvSpPr>
        <p:spPr>
          <a:xfrm>
            <a:off x="8836025" y="3186013"/>
            <a:ext cx="2540000" cy="1127919"/>
          </a:xfrm>
          <a:prstGeom prst="roundRect">
            <a:avLst>
              <a:gd name="adj" fmla="val 10978"/>
            </a:avLst>
          </a:prstGeom>
          <a:solidFill>
            <a:srgbClr val="FFFFFF"/>
          </a:solidFill>
          <a:ln w="6350">
            <a:solidFill>
              <a:srgbClr val="E2DE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17000" y="3366988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6191D"/>
          </a:solidFill>
          <a:ln/>
        </p:spPr>
      </p:sp>
      <p:sp>
        <p:nvSpPr>
          <p:cNvPr id="31" name="Text 29"/>
          <p:cNvSpPr/>
          <p:nvPr/>
        </p:nvSpPr>
        <p:spPr>
          <a:xfrm>
            <a:off x="9126240" y="3416498"/>
            <a:ext cx="1625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17000" y="3760688"/>
            <a:ext cx="2243392" cy="122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b="1" dirty="0">
                <a:solidFill>
                  <a:srgbClr val="1619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Verdict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9017000" y="3921720"/>
            <a:ext cx="2243392" cy="236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848" dirty="0">
                <a:solidFill>
                  <a:srgbClr val="545B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simple signal tells you what happened</a:t>
            </a:r>
            <a:endParaRPr lang="en-US" sz="848" dirty="0"/>
          </a:p>
        </p:txBody>
      </p:sp>
      <p:sp>
        <p:nvSpPr>
          <p:cNvPr id="34" name="Text 32"/>
          <p:cNvSpPr/>
          <p:nvPr/>
        </p:nvSpPr>
        <p:spPr>
          <a:xfrm>
            <a:off x="812800" y="4545707"/>
            <a:ext cx="10883392" cy="183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2"/>
              </a:lnSpc>
              <a:buNone/>
            </a:pPr>
            <a:r>
              <a:rPr lang="en-US" sz="1060" b="1" dirty="0">
                <a:solidFill>
                  <a:srgbClr val="1619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on real tests — real AI, real judge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815975" y="4795540"/>
            <a:ext cx="3431084" cy="1043285"/>
          </a:xfrm>
          <a:prstGeom prst="roundRect">
            <a:avLst>
              <a:gd name="adj" fmla="val 11869"/>
            </a:avLst>
          </a:prstGeom>
          <a:solidFill>
            <a:srgbClr val="E6F4EA"/>
          </a:solidFill>
          <a:ln w="6350">
            <a:solidFill>
              <a:srgbClr val="B7DDC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1550" y="4951115"/>
            <a:ext cx="573980" cy="194568"/>
          </a:xfrm>
          <a:prstGeom prst="roundRect">
            <a:avLst>
              <a:gd name="adj" fmla="val 50000"/>
            </a:avLst>
          </a:prstGeom>
          <a:solidFill>
            <a:srgbClr val="1C7C54"/>
          </a:solidFill>
          <a:ln/>
        </p:spPr>
      </p:sp>
      <p:sp>
        <p:nvSpPr>
          <p:cNvPr id="37" name="Text 35"/>
          <p:cNvSpPr/>
          <p:nvPr/>
        </p:nvSpPr>
        <p:spPr>
          <a:xfrm>
            <a:off x="1098550" y="4976515"/>
            <a:ext cx="370780" cy="169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1"/>
              </a:lnSpc>
              <a:buNone/>
            </a:pPr>
            <a:r>
              <a:rPr lang="en-US" sz="8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</a:t>
            </a:r>
            <a:endParaRPr lang="en-US" sz="836" dirty="0"/>
          </a:p>
        </p:txBody>
      </p:sp>
      <p:sp>
        <p:nvSpPr>
          <p:cNvPr id="38" name="Text 36"/>
          <p:cNvSpPr/>
          <p:nvPr/>
        </p:nvSpPr>
        <p:spPr>
          <a:xfrm>
            <a:off x="971550" y="5209183"/>
            <a:ext cx="3213532" cy="169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1"/>
              </a:lnSpc>
              <a:buNone/>
            </a:pPr>
            <a:r>
              <a:rPr lang="en-US" sz="836" b="1" dirty="0">
                <a:solidFill>
                  <a:srgbClr val="1619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Wording tweak</a:t>
            </a:r>
            <a:endParaRPr lang="en-US" sz="836" dirty="0"/>
          </a:p>
        </p:txBody>
      </p:sp>
      <p:sp>
        <p:nvSpPr>
          <p:cNvPr id="39" name="Text 37"/>
          <p:cNvSpPr/>
          <p:nvPr/>
        </p:nvSpPr>
        <p:spPr>
          <a:xfrm>
            <a:off x="971550" y="5416352"/>
            <a:ext cx="3213532" cy="292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06" dirty="0">
                <a:solidFill>
                  <a:srgbClr val="3A3F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meaningful changed, correctly passed</a:t>
            </a:r>
            <a:endParaRPr lang="en-US" sz="1106" dirty="0"/>
          </a:p>
        </p:txBody>
      </p:sp>
      <p:sp>
        <p:nvSpPr>
          <p:cNvPr id="40" name="Shape 38"/>
          <p:cNvSpPr/>
          <p:nvPr/>
        </p:nvSpPr>
        <p:spPr>
          <a:xfrm>
            <a:off x="4380409" y="4795540"/>
            <a:ext cx="3431183" cy="1043285"/>
          </a:xfrm>
          <a:prstGeom prst="roundRect">
            <a:avLst>
              <a:gd name="adj" fmla="val 11869"/>
            </a:avLst>
          </a:prstGeom>
          <a:solidFill>
            <a:srgbClr val="FBE9E7"/>
          </a:solidFill>
          <a:ln w="6350">
            <a:solidFill>
              <a:srgbClr val="F3BDB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35984" y="4951115"/>
            <a:ext cx="480219" cy="19456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42" name="Text 40"/>
          <p:cNvSpPr/>
          <p:nvPr/>
        </p:nvSpPr>
        <p:spPr>
          <a:xfrm>
            <a:off x="4662984" y="4976515"/>
            <a:ext cx="277019" cy="169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1"/>
              </a:lnSpc>
              <a:buNone/>
            </a:pPr>
            <a:r>
              <a:rPr lang="en-US" sz="8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</a:t>
            </a:r>
            <a:endParaRPr lang="en-US" sz="836" dirty="0"/>
          </a:p>
        </p:txBody>
      </p:sp>
      <p:sp>
        <p:nvSpPr>
          <p:cNvPr id="43" name="Text 41"/>
          <p:cNvSpPr/>
          <p:nvPr/>
        </p:nvSpPr>
        <p:spPr>
          <a:xfrm>
            <a:off x="4535984" y="5209183"/>
            <a:ext cx="3213634" cy="169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1"/>
              </a:lnSpc>
              <a:buNone/>
            </a:pPr>
            <a:r>
              <a:rPr lang="en-US" sz="836" b="1" dirty="0">
                <a:solidFill>
                  <a:srgbClr val="1619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citation rule</a:t>
            </a:r>
            <a:endParaRPr lang="en-US" sz="836" dirty="0"/>
          </a:p>
        </p:txBody>
      </p:sp>
      <p:sp>
        <p:nvSpPr>
          <p:cNvPr id="44" name="Text 42"/>
          <p:cNvSpPr/>
          <p:nvPr/>
        </p:nvSpPr>
        <p:spPr>
          <a:xfrm>
            <a:off x="4535984" y="5416352"/>
            <a:ext cx="3213634" cy="292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99" dirty="0">
                <a:solidFill>
                  <a:srgbClr val="3A3F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Caught the AI making up sources it used to cite</a:t>
            </a:r>
            <a:endParaRPr lang="en-US" sz="1099" dirty="0"/>
          </a:p>
        </p:txBody>
      </p:sp>
      <p:sp>
        <p:nvSpPr>
          <p:cNvPr id="45" name="Shape 43"/>
          <p:cNvSpPr/>
          <p:nvPr/>
        </p:nvSpPr>
        <p:spPr>
          <a:xfrm>
            <a:off x="7944941" y="4795540"/>
            <a:ext cx="3431084" cy="1043285"/>
          </a:xfrm>
          <a:prstGeom prst="roundRect">
            <a:avLst>
              <a:gd name="adj" fmla="val 11869"/>
            </a:avLst>
          </a:prstGeom>
          <a:solidFill>
            <a:srgbClr val="FBE9E7"/>
          </a:solidFill>
          <a:ln w="6350">
            <a:solidFill>
              <a:srgbClr val="F3BDB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00516" y="4951115"/>
            <a:ext cx="480219" cy="19456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47" name="Text 45"/>
          <p:cNvSpPr/>
          <p:nvPr/>
        </p:nvSpPr>
        <p:spPr>
          <a:xfrm>
            <a:off x="8227516" y="4976515"/>
            <a:ext cx="277019" cy="169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1"/>
              </a:lnSpc>
              <a:buNone/>
            </a:pPr>
            <a:r>
              <a:rPr lang="en-US" sz="8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</a:t>
            </a:r>
            <a:endParaRPr lang="en-US" sz="836" dirty="0"/>
          </a:p>
        </p:txBody>
      </p:sp>
      <p:sp>
        <p:nvSpPr>
          <p:cNvPr id="48" name="Text 46"/>
          <p:cNvSpPr/>
          <p:nvPr/>
        </p:nvSpPr>
        <p:spPr>
          <a:xfrm>
            <a:off x="8100516" y="5209183"/>
            <a:ext cx="3213532" cy="169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1"/>
              </a:lnSpc>
              <a:buNone/>
            </a:pPr>
            <a:r>
              <a:rPr lang="en-US" sz="836" b="1" dirty="0">
                <a:solidFill>
                  <a:srgbClr val="1619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Cheaper AI model</a:t>
            </a:r>
            <a:endParaRPr lang="en-US" sz="836" dirty="0"/>
          </a:p>
        </p:txBody>
      </p:sp>
      <p:sp>
        <p:nvSpPr>
          <p:cNvPr id="49" name="Text 47"/>
          <p:cNvSpPr/>
          <p:nvPr/>
        </p:nvSpPr>
        <p:spPr>
          <a:xfrm>
            <a:off x="8100516" y="5416352"/>
            <a:ext cx="3213532" cy="292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170" dirty="0">
                <a:solidFill>
                  <a:srgbClr val="3A3F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Caught real quality loss from the downgrade</a:t>
            </a:r>
            <a:endParaRPr lang="en-US" sz="1170" dirty="0"/>
          </a:p>
        </p:txBody>
      </p:sp>
      <p:sp>
        <p:nvSpPr>
          <p:cNvPr id="50" name="Text 48"/>
          <p:cNvSpPr/>
          <p:nvPr/>
        </p:nvSpPr>
        <p:spPr>
          <a:xfrm>
            <a:off x="812800" y="6238280"/>
            <a:ext cx="60172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Moves AI failures from "after it ships" to "before you hit save"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978140" y="6238280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github.com/amareshhebbar/gitgrounded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GitGrounded — Hackathon One-Pager</dc:title>
  <dc:subject>PptxGenJS Presentation</dc:subject>
  <dc:creator>PptxGenJS</dc:creator>
  <cp:lastModifiedBy>PptxGenJS</cp:lastModifiedBy>
  <cp:revision>1</cp:revision>
  <dcterms:created xsi:type="dcterms:W3CDTF">2026-09-26T11:43:06Z</dcterms:created>
  <dcterms:modified xsi:type="dcterms:W3CDTF">2026-09-26T11:43:06Z</dcterms:modified>
</cp:coreProperties>
</file>